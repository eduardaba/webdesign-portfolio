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pic>
        <p:nvPicPr>
          <p:cNvPr id="41" name="Image 0" descr="/tmp/hero_b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1628">
              <a:alpha val="85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APOSTILA DE CSS · TURMA A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48640" y="13716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Zero ao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Responsivo</a:t>
            </a:r>
            <a:endParaRPr lang="en-US" sz="6000" dirty="0"/>
          </a:p>
        </p:txBody>
      </p:sp>
      <p:sp>
        <p:nvSpPr>
          <p:cNvPr id="46" name="Text 43"/>
          <p:cNvSpPr/>
          <p:nvPr/>
        </p:nvSpPr>
        <p:spPr>
          <a:xfrm>
            <a:off x="54864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Biologia — Corpo Humano</a:t>
            </a:r>
            <a:endParaRPr lang="en-US" sz="2600" dirty="0"/>
          </a:p>
        </p:txBody>
      </p:sp>
      <p:sp>
        <p:nvSpPr>
          <p:cNvPr id="47" name="Text 44"/>
          <p:cNvSpPr/>
          <p:nvPr/>
        </p:nvSpPr>
        <p:spPr>
          <a:xfrm>
            <a:off x="548640" y="4297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ao Responsivo — Construindo uma página anatômica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48640" y="539496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" y="5394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Prático em Aula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da Aula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13h20 – 13h40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017520" y="1828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Boas-vindas, objetivos e criação da base HTML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242316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13h40 – 14h20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017520" y="2423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 e 2 — 3 formas de aplicar CSS + Hierarquia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301752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14h20 – 15h00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017520" y="3017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3 e 4 — Tipografia, unidades e Box Model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48640" y="361188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15h00 – 15h25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01752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8640" y="420624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15h30 – 16h20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017520" y="4206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5 e 6 — Fundos, Flexbox e interações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48640" y="480060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800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16h20 – 16h40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3017520" y="4800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7 — Responsividade com Media Queries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48640" y="539496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5394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16h40 – 17h00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3017520" y="5394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final e envio ao GitHub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1828800"/>
            <a:ext cx="73152" cy="8229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1554480" y="1828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o poder estético do CSS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17920" y="182880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1828800"/>
            <a:ext cx="73152" cy="8229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7223760" y="1828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Dominar hierarquia e cascata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48640" y="283464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2834640"/>
            <a:ext cx="73152" cy="8229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1554480" y="2834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Tipografia e formatação de texto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17920" y="283464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2834640"/>
            <a:ext cx="73152" cy="8229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7223760" y="2834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de medida (px, rem, em, %, vw)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48640" y="384048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3840480"/>
            <a:ext cx="73152" cy="8229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2" name="Text 60"/>
          <p:cNvSpPr/>
          <p:nvPr/>
        </p:nvSpPr>
        <p:spPr>
          <a:xfrm>
            <a:off x="73152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1554480" y="38404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 e espaçamentos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17920" y="384048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0" y="3840480"/>
            <a:ext cx="73152" cy="8229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6" name="Text 64"/>
          <p:cNvSpPr/>
          <p:nvPr/>
        </p:nvSpPr>
        <p:spPr>
          <a:xfrm>
            <a:off x="640080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7223760" y="38404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— layouts profissionais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48640" y="484632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4846320"/>
            <a:ext cx="73152" cy="8229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70" name="Text 68"/>
          <p:cNvSpPr/>
          <p:nvPr/>
        </p:nvSpPr>
        <p:spPr>
          <a:xfrm>
            <a:off x="73152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71" name="Text 69"/>
          <p:cNvSpPr/>
          <p:nvPr/>
        </p:nvSpPr>
        <p:spPr>
          <a:xfrm>
            <a:off x="1554480" y="4846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 (mobile-first)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17920" y="484632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4846320"/>
            <a:ext cx="73152" cy="8229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74" name="Text 72"/>
          <p:cNvSpPr/>
          <p:nvPr/>
        </p:nvSpPr>
        <p:spPr>
          <a:xfrm>
            <a:off x="640080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🖼️</a:t>
            </a:r>
            <a:endParaRPr lang="en-US" sz="2600" dirty="0"/>
          </a:p>
        </p:txBody>
      </p:sp>
      <p:sp>
        <p:nvSpPr>
          <p:cNvPr id="75" name="Text 73"/>
          <p:cNvSpPr/>
          <p:nvPr/>
        </p:nvSpPr>
        <p:spPr>
          <a:xfrm>
            <a:off x="7223760" y="4846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Trabalhar com imagens no CSS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548640" y="585216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8640" y="5852160"/>
            <a:ext cx="73152" cy="8229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78" name="Text 76"/>
          <p:cNvSpPr/>
          <p:nvPr/>
        </p:nvSpPr>
        <p:spPr>
          <a:xfrm>
            <a:off x="731520" y="5852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79" name="Text 77"/>
          <p:cNvSpPr/>
          <p:nvPr/>
        </p:nvSpPr>
        <p:spPr>
          <a:xfrm>
            <a:off x="1554480" y="58521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no GitHub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CSS?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Style Sheets — a camada visual da web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48640" y="2103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o HTML define a ESTRUTURA (o que existe), o CSS define a APARÊNCIA (como se vê): cores, tamanhos, espaçamentos, tipografia e responsividade.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48640" y="32004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3200400"/>
            <a:ext cx="73152" cy="24688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3337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— Esqueleto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7240" y="3794760"/>
            <a:ext cx="51206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invisível. O que sustenta tudo por dentro.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ele, nada existe.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17920" y="32004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3200400"/>
            <a:ext cx="73152" cy="24688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3337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— Pele, músculos e roupas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46520" y="3794760"/>
            <a:ext cx="51206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que se vê. Cor, forma, movimento e identidade.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ele, tudo parece cru.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58064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HTML é o esqueleto que sustenta. O CSS é a pele, os músculos e as roupas que dão aparência."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página: Explorando o Corpo Humano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pasta do projeto e um arquivo index.html com esta estrutura — já traz MENU, 3 SEÇÕES e RODAPÉ: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03120"/>
            <a:ext cx="11155680" cy="4206240"/>
          </a:xfrm>
          <a:prstGeom prst="roundRect">
            <a:avLst>
              <a:gd name="adj" fmla="val 108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0312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224028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 class="topo"&gt;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 class="logo"&gt;Explorando o Corpo Humano&lt;/h1&gt;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 class="menu"&gt;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href="#s1"&gt;Introdução&lt;/a&gt;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href="#s2"&gt;Sistemas do Corpo&lt;/a&gt;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href="#s3"&gt;Curiosidades&lt;/a&gt;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id="s1"&gt;&lt;h2&gt;Introdução&lt;/h2&gt;...&lt;/section&gt;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id="s2"&gt;&lt;h2&gt;Sistemas do Corpo&lt;/h2&gt;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class="cards"&gt;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class="card"&gt;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&lt;img src="img/coracao.png" alt="Ilustração do coração humano"&gt;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&lt;h3&gt;Sistema Circulatório&lt;/h3&gt;&lt;p&gt;Transporta oxigênio e nutrientes.&lt;/p&gt;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class="card"&gt;&lt;h3&gt;Sistema Nervoso&lt;/h3&gt;&lt;p&gt;Comanda pensamentos e reflexos.&lt;/p&gt;&lt;/div&gt;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class="card"&gt;&lt;h3&gt;Sistema Digestório&lt;/h3&gt;&lt;p&gt;Transforma alimentos em energia.&lt;/p&gt;&lt;/div&gt;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id="s3"&gt;&lt;h2&gt;Curiosidades&lt;/h2&gt;...&lt;/section&gt;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 class="rodape"&gt;© Aula CSS · Turma A&lt;/footer&gt;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Vias de Administração de CSS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2011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💉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17373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1: CSS Inline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173736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tag (atributo style)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73736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Injeção direta na tag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315200" y="2057400"/>
            <a:ext cx="4206240" cy="914400"/>
          </a:xfrm>
          <a:prstGeom prst="roundRect">
            <a:avLst>
              <a:gd name="adj" fmla="val 4000"/>
            </a:avLst>
          </a:prstGeom>
          <a:solidFill>
            <a:srgbClr val="071022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52360" y="2103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52360" y="23774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— mistura estrutura e estilo.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333756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3520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💊</a:t>
            </a:r>
            <a:endParaRPr lang="en-US" sz="3600" dirty="0"/>
          </a:p>
        </p:txBody>
      </p:sp>
      <p:sp>
        <p:nvSpPr>
          <p:cNvPr id="54" name="Text 52"/>
          <p:cNvSpPr/>
          <p:nvPr/>
        </p:nvSpPr>
        <p:spPr>
          <a:xfrm>
            <a:off x="173736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2: CSS Interno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173736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&lt;style&gt; no &lt;head&gt;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73736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Comprimido no &lt;head&gt;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315200" y="3566160"/>
            <a:ext cx="4206240" cy="914400"/>
          </a:xfrm>
          <a:prstGeom prst="roundRect">
            <a:avLst>
              <a:gd name="adj" fmla="val 4000"/>
            </a:avLst>
          </a:prstGeom>
          <a:solidFill>
            <a:srgbClr val="07102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5236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452360" y="38862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protótipos rápidos.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484632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25400">
            <a:solidFill>
              <a:srgbClr val="F9706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029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🧪</a:t>
            </a:r>
            <a:endParaRPr lang="en-US" sz="3600" dirty="0"/>
          </a:p>
        </p:txBody>
      </p:sp>
      <p:sp>
        <p:nvSpPr>
          <p:cNvPr id="62" name="Text 60"/>
          <p:cNvSpPr/>
          <p:nvPr/>
        </p:nvSpPr>
        <p:spPr>
          <a:xfrm>
            <a:off x="1737360" y="4983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3: CSS Externo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173736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separado .css (via &lt;link&gt;)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7373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Soro externo em .css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315200" y="5074920"/>
            <a:ext cx="4206240" cy="914400"/>
          </a:xfrm>
          <a:prstGeom prst="roundRect">
            <a:avLst>
              <a:gd name="adj" fmla="val 4000"/>
            </a:avLst>
          </a:prstGeom>
          <a:solidFill>
            <a:srgbClr val="0710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52360" y="5120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452360" y="53949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Padrão profissional.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e Especificidade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vence quando duas regras conflitam? O CSS segue uma ORDEM clara — é o C de Cascading.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945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0F1E36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2743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31520" y="3566160"/>
            <a:ext cx="2331720" cy="54864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p, h1, button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429000" y="21945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0F1E36"/>
          </a:solidFill>
          <a:ln w="25400">
            <a:solidFill>
              <a:srgbClr val="F970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429000" y="2743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</a:t>
            </a:r>
            <a:endParaRPr lang="en-US" sz="2600" dirty="0"/>
          </a:p>
        </p:txBody>
      </p:sp>
      <p:sp>
        <p:nvSpPr>
          <p:cNvPr id="53" name="Shape 51"/>
          <p:cNvSpPr/>
          <p:nvPr/>
        </p:nvSpPr>
        <p:spPr>
          <a:xfrm>
            <a:off x="3611880" y="3566160"/>
            <a:ext cx="2331720" cy="54864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1188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.card, .destaque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309360" y="21945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0F1E36"/>
          </a:solidFill>
          <a:ln w="25400">
            <a:solidFill>
              <a:srgbClr val="F970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100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309360" y="2743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2600" dirty="0"/>
          </a:p>
        </p:txBody>
      </p:sp>
      <p:sp>
        <p:nvSpPr>
          <p:cNvPr id="58" name="Shape 56"/>
          <p:cNvSpPr/>
          <p:nvPr/>
        </p:nvSpPr>
        <p:spPr>
          <a:xfrm>
            <a:off x="6492240" y="3566160"/>
            <a:ext cx="2331720" cy="54864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#menu-topo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9189720" y="21945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0F1E36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89720" y="2331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Vence tudo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189720" y="2743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</a:t>
            </a:r>
            <a:endParaRPr lang="en-US" sz="2600" dirty="0"/>
          </a:p>
        </p:txBody>
      </p:sp>
      <p:sp>
        <p:nvSpPr>
          <p:cNvPr id="63" name="Shape 61"/>
          <p:cNvSpPr/>
          <p:nvPr/>
        </p:nvSpPr>
        <p:spPr>
          <a:xfrm>
            <a:off x="9372600" y="3566160"/>
            <a:ext cx="2331720" cy="54864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7260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style="..."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48640" y="4937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ouro: prefira CLASSES. IDs apenas para elementos únicos (ex.: âncoras de menu).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548640" y="557784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5577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 inline vence porque está "colado" ao elemento. Mas quebra a manutenção — evite no dia a dia.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Proporção Anatômica (Unidades de Medida)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373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1737360"/>
            <a:ext cx="91440" cy="21945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265176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Osso — absoluto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77240" y="2514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FIXA e RÍGIDA.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estica nem encolhe.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7724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Bordas finas, sombras precisas, elementos que nunca mudam.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17920" y="17373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1737360"/>
            <a:ext cx="91440" cy="21945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832104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EM — crescimento global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446520" y="2514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ao tamanho base do &lt;html&gt;. Se o usuário der zoom, TUDO cresce junto.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4652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4652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e margens globais.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para acessibilidade!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" y="40690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640" y="4069080"/>
            <a:ext cx="91440" cy="21945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0" name="Text 58"/>
          <p:cNvSpPr/>
          <p:nvPr/>
        </p:nvSpPr>
        <p:spPr>
          <a:xfrm>
            <a:off x="77724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endParaRPr lang="en-US" sz="2800" dirty="0"/>
          </a:p>
        </p:txBody>
      </p:sp>
      <p:sp>
        <p:nvSpPr>
          <p:cNvPr id="61" name="Text 59"/>
          <p:cNvSpPr/>
          <p:nvPr/>
        </p:nvSpPr>
        <p:spPr>
          <a:xfrm>
            <a:off x="265176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local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77240" y="4846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 ao PRÓPRIO elemento (ou ao pai). Cresce com a fonte dele.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77240" y="5623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77240" y="5852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interno de botões — o espaço acompanha a fonte.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217920" y="40690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920" y="4069080"/>
            <a:ext cx="91440" cy="21945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7" name="Text 65"/>
          <p:cNvSpPr/>
          <p:nvPr/>
        </p:nvSpPr>
        <p:spPr>
          <a:xfrm>
            <a:off x="644652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 / vh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8321040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Viewport — campo de visão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446520" y="4846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1vw = 1% da largura da tela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1vh = 1% da altura da tela.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46520" y="5623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446520" y="5852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 em tela cheia (100vh), títulos hero gigantes.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usar cada unidade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37360"/>
            <a:ext cx="11155680" cy="45720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93776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unidade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2296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2194560"/>
            <a:ext cx="11155680" cy="54864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2194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 do body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93776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2960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 a preferência do usuário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1520" y="2743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 de títulos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93776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22960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junto com o resto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3291840"/>
            <a:ext cx="11155680" cy="54864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3291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/ margin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937760" y="3291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 ou em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22960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a tipografia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31520" y="3840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 de container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93776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ou max-width em rem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22960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Fluido, mas com limite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48640" y="4389120"/>
            <a:ext cx="11155680" cy="54864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" y="4389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de hero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937760" y="4389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min-height: 100vh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229600" y="4389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a tela inteira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31520" y="49377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Bordas e sombras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4937760" y="4937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8229600" y="4937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que não escalam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48640" y="5486400"/>
            <a:ext cx="11155680" cy="54864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70" name="Text 68"/>
          <p:cNvSpPr/>
          <p:nvPr/>
        </p:nvSpPr>
        <p:spPr>
          <a:xfrm>
            <a:off x="731520" y="5486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 de leitura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4937760" y="5486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65ch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8229600" y="5486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confortáveis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48640" y="6172200"/>
            <a:ext cx="11155680" cy="320040"/>
          </a:xfrm>
          <a:prstGeom prst="roundRect">
            <a:avLst>
              <a:gd name="adj" fmla="val 11429"/>
            </a:avLst>
          </a:prstGeom>
          <a:solidFill>
            <a:srgbClr val="071022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Regra prática: rem para tudo com texto, % para larguras, vh/vw para seção cheia, px só para bordas.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 — A Célula Humana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Shape 42"/>
          <p:cNvSpPr/>
          <p:nvPr/>
        </p:nvSpPr>
        <p:spPr>
          <a:xfrm>
            <a:off x="914400" y="2011680"/>
            <a:ext cx="5029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91440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371600" y="2468880"/>
            <a:ext cx="4114800" cy="3200400"/>
          </a:xfrm>
          <a:prstGeom prst="rect">
            <a:avLst/>
          </a:prstGeom>
          <a:solidFill>
            <a:srgbClr val="334155"/>
          </a:solidFill>
          <a:ln w="25400">
            <a:solidFill>
              <a:srgbClr val="F970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28800" y="2926080"/>
            <a:ext cx="3200400" cy="2286000"/>
          </a:xfrm>
          <a:prstGeom prst="rect">
            <a:avLst/>
          </a:prstGeom>
          <a:solidFill>
            <a:srgbClr val="475569"/>
          </a:solidFill>
          <a:ln w="12700">
            <a:solidFill>
              <a:srgbClr val="7ED4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286000" y="3474720"/>
            <a:ext cx="2286000" cy="11887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51" name="Text 49"/>
          <p:cNvSpPr/>
          <p:nvPr/>
        </p:nvSpPr>
        <p:spPr>
          <a:xfrm>
            <a:off x="2286000" y="34747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400800" y="201168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0" y="2011680"/>
            <a:ext cx="73152" cy="8686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54" name="Text 52"/>
          <p:cNvSpPr/>
          <p:nvPr/>
        </p:nvSpPr>
        <p:spPr>
          <a:xfrm>
            <a:off x="66294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6629400" y="2423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— o DNA / conteúdo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0" y="301752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00800" y="3017520"/>
            <a:ext cx="73152" cy="8686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58" name="Text 56"/>
          <p:cNvSpPr/>
          <p:nvPr/>
        </p:nvSpPr>
        <p:spPr>
          <a:xfrm>
            <a:off x="662940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629400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Citoplasma — o espaço interno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400800" y="402336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00800" y="4023360"/>
            <a:ext cx="73152" cy="8686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2" name="Text 60"/>
          <p:cNvSpPr/>
          <p:nvPr/>
        </p:nvSpPr>
        <p:spPr>
          <a:xfrm>
            <a:off x="66294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662940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Membrana — o limite da célula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400800" y="502920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00800" y="5029200"/>
            <a:ext cx="73152" cy="8686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6" name="Text 64"/>
          <p:cNvSpPr/>
          <p:nvPr/>
        </p:nvSpPr>
        <p:spPr>
          <a:xfrm>
            <a:off x="6629400" y="5120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629400" y="5440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entre células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básico + box-sizing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isto no topo do seu style.css — é o primeiro passo de todo projeto profissional: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03120"/>
            <a:ext cx="5486400" cy="3291840"/>
          </a:xfrm>
          <a:prstGeom prst="roundRect">
            <a:avLst>
              <a:gd name="adj" fmla="val 1389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03120"/>
            <a:ext cx="54864" cy="32918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224028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Reset básico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Tipografia global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'Inter', Arial, sans-serif;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#2c3e50;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1.6;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0" y="21031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box-sizing: border-box?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83680" y="2697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ele: width:200 + padding:20 = 240px (a caixa CRESCE).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ele: o navegador RESPEITA os 200px e encolhe o conteúdo por dentro.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comportamento intuitivo — por isso aplicamos em * (todos).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Musculatura do Layout (Flexbox)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transforma &lt;div&gt;s que se empilhariam em um sistema perfeitamente alinhado no espaço.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94560"/>
            <a:ext cx="11155680" cy="2926080"/>
          </a:xfrm>
          <a:prstGeom prst="roundRect">
            <a:avLst>
              <a:gd name="adj" fmla="val 3125"/>
            </a:avLst>
          </a:prstGeom>
          <a:solidFill>
            <a:srgbClr val="0F1E36"/>
          </a:solidFill>
          <a:ln w="25400">
            <a:solidFill>
              <a:srgbClr val="F97066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548640" y="22860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flex;   justify-content: space-between;   gap: 15px;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97280" y="28346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0F1E36"/>
          </a:solidFill>
          <a:ln w="19050">
            <a:solidFill>
              <a:srgbClr val="F970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Nervoso 🧠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1554480" y="3886200"/>
            <a:ext cx="2377440" cy="0"/>
          </a:xfrm>
          <a:prstGeom prst="line">
            <a:avLst/>
          </a:prstGeom>
          <a:noFill/>
          <a:ln w="12700">
            <a:solidFill>
              <a:srgbClr val="F970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1;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9728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(divisão igual de espaço)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28346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0F1E36"/>
          </a:solidFill>
          <a:ln w="19050">
            <a:solidFill>
              <a:srgbClr val="F970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Circulatório ❤️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5212080" y="3886200"/>
            <a:ext cx="2377440" cy="0"/>
          </a:xfrm>
          <a:prstGeom prst="line">
            <a:avLst/>
          </a:prstGeom>
          <a:noFill/>
          <a:ln w="12700">
            <a:solidFill>
              <a:srgbClr val="F970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1;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75488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(divisão igual de espaço)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412480" y="283464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0F1E36"/>
          </a:solidFill>
          <a:ln w="19050">
            <a:solidFill>
              <a:srgbClr val="F9706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Respiratório 🫁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8869680" y="3886200"/>
            <a:ext cx="2377440" cy="0"/>
          </a:xfrm>
          <a:prstGeom prst="line">
            <a:avLst/>
          </a:prstGeom>
          <a:noFill/>
          <a:ln w="12700">
            <a:solidFill>
              <a:srgbClr val="F970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1;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41248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(divisão igual de espaço)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display: flex ativa a musculatura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179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justify-content: space-between →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48640" y="5760720"/>
            <a:ext cx="11155680" cy="685800"/>
          </a:xfrm>
          <a:prstGeom prst="roundRect">
            <a:avLst>
              <a:gd name="adj" fmla="val 66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5760720"/>
            <a:ext cx="54864" cy="6858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6" name="Text 64"/>
          <p:cNvSpPr/>
          <p:nvPr/>
        </p:nvSpPr>
        <p:spPr>
          <a:xfrm>
            <a:off x="731520" y="5897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.cards { display: flex; justify-content: space-between; gap: 15px; }   .card { flex: 1; }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Estilizando Menu, Seções e Rodapé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37360"/>
            <a:ext cx="5577840" cy="4572000"/>
          </a:xfrm>
          <a:prstGeom prst="roundRect">
            <a:avLst>
              <a:gd name="adj" fmla="val 1000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1737360"/>
            <a:ext cx="54864" cy="4572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1874520"/>
            <a:ext cx="53035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.topo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linear-gradient(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90deg, #0891b2, #22d3ee);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#fff;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1rem 2rem;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sticky;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.menu a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#fff;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margin-left: 1.5rem;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none;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09360" y="1737360"/>
            <a:ext cx="5394960" cy="4572000"/>
          </a:xfrm>
          <a:prstGeom prst="roundRect">
            <a:avLst>
              <a:gd name="adj" fmla="val 1000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1737360"/>
            <a:ext cx="54864" cy="4572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187452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3rem 2rem;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1100px;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 auto;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#fff;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12px;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1.5rem;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0 4px 12px rgba(0,0,0,.08);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.rodape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#0f172a;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#cbd5e1;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2rem;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Órgãos Visíveis — As Imagens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imagens são os órgãos que a retina do usuário capta — a evidência anatômica do que descrevemos."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945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94560"/>
            <a:ext cx="73152" cy="420624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2286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 · Preparar a imagem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77240" y="26517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Crie a pasta img/ dentro do projeto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Salve arquivos em .jpg (fotos) ou .png (com transparência)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.svg para ícones e ilustrações vetoriais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Nomes sem espaço nem acento (ex.: coracao.png)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724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· Inserir no HTML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77240" y="452628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src → caminho do arquivo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 → descrição (acessibilidade e SEO)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width/height → opcional, mas ajuda o layout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Sempre escreva alt significativo!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309360" y="2194560"/>
            <a:ext cx="5394960" cy="4206240"/>
          </a:xfrm>
          <a:prstGeom prst="roundRect">
            <a:avLst>
              <a:gd name="adj" fmla="val 108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219456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233172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estrutura da pasta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projeto/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style.css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img/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coracao.png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no HTML, dentro de um card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class="card"&gt;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src="img/coracao.png"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alt="Ilustração do coração humano"&gt;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&lt;h3&gt;Sistema Circulatório&lt;/h3&gt;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&lt;p&gt;Transporta oxigênio e nutrientes.&lt;/p&gt;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Tratando Imagens com CSS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CSS, a imagem entra no tamanho original — quase sempre errado. Estas são as propriedades essenciais: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14884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48840"/>
            <a:ext cx="73152" cy="11887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max-width: 100%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77240" y="2697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extrapola o container — evita quebrar o layout no mobile.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17920" y="214884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2148840"/>
            <a:ext cx="73152" cy="1188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height: auto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446520" y="2697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proporção original quando a largura muda.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347472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3474720"/>
            <a:ext cx="73152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object-fit: cover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77240" y="4023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a área definida sem distorcer (recorta o excesso).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217920" y="347472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3474720"/>
            <a:ext cx="73152" cy="1188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9" name="Text 57"/>
          <p:cNvSpPr/>
          <p:nvPr/>
        </p:nvSpPr>
        <p:spPr>
          <a:xfrm>
            <a:off x="6446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12px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446520" y="40233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Cantos arredondados — dá acabamento profissional.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48640" y="48006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" y="4800600"/>
            <a:ext cx="73152" cy="11887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3" name="Text 61"/>
          <p:cNvSpPr/>
          <p:nvPr/>
        </p:nvSpPr>
        <p:spPr>
          <a:xfrm>
            <a:off x="777240" y="4892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77240" y="5349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Sombra sutil que destaca a imagem do fundo.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217920" y="48006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0F1E36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920" y="4800600"/>
            <a:ext cx="73152" cy="11887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67" name="Text 65"/>
          <p:cNvSpPr/>
          <p:nvPr/>
        </p:nvSpPr>
        <p:spPr>
          <a:xfrm>
            <a:off x="6446520" y="4892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grayscale/blur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446520" y="5349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visuais: preto e branco, desfoque, brilho.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48640" y="6172200"/>
            <a:ext cx="11155680" cy="457200"/>
          </a:xfrm>
          <a:prstGeom prst="roundRect">
            <a:avLst>
              <a:gd name="adj" fmla="val 10000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8640" y="6172200"/>
            <a:ext cx="54864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1" name="Text 69"/>
          <p:cNvSpPr/>
          <p:nvPr/>
        </p:nvSpPr>
        <p:spPr>
          <a:xfrm>
            <a:off x="731520" y="630936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img { max-width: 100%; height: auto; border-radius: 12px; object-fit: cover; }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Imagens Responsivas e de Fundo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3736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  &lt;img&gt; responsiva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3152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que APARECE no HTML (conteúdo). Precisa de alt.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1520" y="274320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" y="2743200"/>
            <a:ext cx="54864" cy="10972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" y="2880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img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200px;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object-fit: cover;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09360" y="173736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0F1E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background-image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49224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DECORATIVA via CSS. Não aparece no HTML.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92240" y="274320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2743200"/>
            <a:ext cx="54864" cy="10972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5" name="Text 53"/>
          <p:cNvSpPr/>
          <p:nvPr/>
        </p:nvSpPr>
        <p:spPr>
          <a:xfrm>
            <a:off x="6675120" y="2880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url('img/fundo.jpg')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center/cover no-repeat;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60vh;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48640" y="4114800"/>
            <a:ext cx="11247120" cy="2194560"/>
          </a:xfrm>
          <a:prstGeom prst="roundRect">
            <a:avLst>
              <a:gd name="adj" fmla="val 3333"/>
            </a:avLst>
          </a:prstGeom>
          <a:solidFill>
            <a:srgbClr val="071022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Boas práticas com imagens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31520" y="4709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Otimize antes de subir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68680" y="500176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TinyPNG / Squoosh — imagens leves = site rápido.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17920" y="4709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Sempre defina alt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355080" y="500176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+ SEO + fallback se a imagem falhar.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31520" y="5486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Prefira max-width: 100%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68680" y="57790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estouro horizontal no celular.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217920" y="5486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&lt;img&gt; = conteúdo · background = decoração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355080" y="57790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simples para escolher o certo.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 — Adaptação do Organismo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554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corpo humano se adapta ao ambiente — quente, frio, altitude. O CSS responsivo faz a página se adaptar à tela."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48640" y="22860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23317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📱</a:t>
            </a:r>
            <a:endParaRPr lang="en-US" sz="4400" dirty="0"/>
          </a:p>
        </p:txBody>
      </p:sp>
      <p:sp>
        <p:nvSpPr>
          <p:cNvPr id="47" name="Text 45"/>
          <p:cNvSpPr/>
          <p:nvPr/>
        </p:nvSpPr>
        <p:spPr>
          <a:xfrm>
            <a:off x="548640" y="3200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8640" y="3566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até 600px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37947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coluna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343400" y="22860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3400" y="23317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💻</a:t>
            </a:r>
            <a:endParaRPr lang="en-US" sz="4400" dirty="0"/>
          </a:p>
        </p:txBody>
      </p:sp>
      <p:sp>
        <p:nvSpPr>
          <p:cNvPr id="52" name="Text 50"/>
          <p:cNvSpPr/>
          <p:nvPr/>
        </p:nvSpPr>
        <p:spPr>
          <a:xfrm>
            <a:off x="4343400" y="3200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343400" y="3566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601–1024px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343400" y="37947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colunas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138160" y="22860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38160" y="23317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🖥️</a:t>
            </a:r>
            <a:endParaRPr lang="en-US" sz="4400" dirty="0"/>
          </a:p>
        </p:txBody>
      </p:sp>
      <p:sp>
        <p:nvSpPr>
          <p:cNvPr id="57" name="Text 55"/>
          <p:cNvSpPr/>
          <p:nvPr/>
        </p:nvSpPr>
        <p:spPr>
          <a:xfrm>
            <a:off x="8138160" y="3200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138160" y="35661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+1025px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138160" y="37947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colunas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4297680"/>
            <a:ext cx="11155680" cy="2011680"/>
          </a:xfrm>
          <a:prstGeom prst="roundRect">
            <a:avLst>
              <a:gd name="adj" fmla="val 2273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4297680"/>
            <a:ext cx="54864" cy="2011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2" name="Text 60"/>
          <p:cNvSpPr/>
          <p:nvPr/>
        </p:nvSpPr>
        <p:spPr>
          <a:xfrm>
            <a:off x="731520" y="443484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.cards { flex-direction: column;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.menu  { flex-direction: column; align-items: flex-start;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h1     { font-size: 2rem;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Publicando no GitHub — Via Interface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1371600" y="173736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54480" y="17373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conta em github.com e clique em "New repository".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371600" y="251460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54480" y="25146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um nome (ex.: aula-css-corpo-humano) e marque "Public".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48640" y="3337560"/>
            <a:ext cx="640080" cy="6400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1371600" y="32918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54480" y="32918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página do repositório, clique em "uploading an existing file".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58" name="Shape 56"/>
          <p:cNvSpPr/>
          <p:nvPr/>
        </p:nvSpPr>
        <p:spPr>
          <a:xfrm>
            <a:off x="1371600" y="406908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54480" y="40690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Arraste index.html e style.css. Clique em "Commit changes".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48640" y="4892040"/>
            <a:ext cx="640080" cy="6400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1371600" y="484632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54480" y="48463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Settings → Pages → escolha branch main e clique Save.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48640" y="5669280"/>
            <a:ext cx="640080" cy="64008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5669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66" name="Shape 64"/>
          <p:cNvSpPr/>
          <p:nvPr/>
        </p:nvSpPr>
        <p:spPr>
          <a:xfrm>
            <a:off x="1371600" y="562356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54480" y="56235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Aguarde 1 minuto. Sua página estará no ar em usuario.github.io/repo!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09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Publicando no GitHub — Via Terminal (opcional)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11155680" cy="3200400"/>
          </a:xfrm>
          <a:prstGeom prst="roundRect">
            <a:avLst>
              <a:gd name="adj" fmla="val 1429"/>
            </a:avLst>
          </a:prstGeom>
          <a:solidFill>
            <a:srgbClr val="0206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1828800"/>
            <a:ext cx="54864" cy="3200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196596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Dentro da pasta do projeto: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"primeira versão da aula de CSS"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Conecte ao repositório vazio criado no GitHub: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https://github.com/SEU-USUARIO/aula-css.git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Envie: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21208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5257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Dica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31520" y="5577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pedir login, use um Personal Access Token (Settings → Developer settings). Muito mais seguro que senha.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 da Aula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548640" y="1417320"/>
            <a:ext cx="5486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182880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2011680"/>
            <a:ext cx="502920" cy="50292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325880" y="18288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tem MENU, 3 SEÇÕES e RODAPÉ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17920" y="182880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2011680"/>
            <a:ext cx="502920" cy="50292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6995160" y="18288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está em arquivo externo style.css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48640" y="288036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" y="3063240"/>
            <a:ext cx="502920" cy="50292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1325880" y="28803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box-sizing: border-box aplicado no *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217920" y="288036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55080" y="3063240"/>
            <a:ext cx="502920" cy="50292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6995160" y="28803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usa rem — acessibilidade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48640" y="393192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1325880" y="39319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usam Flexbox com gap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217920" y="393192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55080" y="4114800"/>
            <a:ext cx="502920" cy="50292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6995160" y="39319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"gruda" no topo (position: sticky)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48640" y="498348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" y="5166360"/>
            <a:ext cx="502920" cy="50292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580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1325880" y="4983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 para mobile (&lt; 600px)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217920" y="498348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0F1E3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55080" y="5166360"/>
            <a:ext cx="502920" cy="502920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5508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6995160" y="4983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publicado no GitHub Pages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CSS · Turma A · Biologia — Corpo Humano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51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401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102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59568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63072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6576" y="0"/>
            <a:ext cx="0" cy="685800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0350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20700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1051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1401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62102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28032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31536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6350">
            <a:solidFill>
              <a:srgbClr val="1122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7432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17375" y="27432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917375" y="274320"/>
            <a:ext cx="0" cy="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6583680"/>
            <a:ext cx="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17375" y="6583680"/>
            <a:ext cx="-457200" cy="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917375" y="6583680"/>
            <a:ext cx="0" cy="-45720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pic>
        <p:nvPicPr>
          <p:cNvPr id="41" name="Image 0" descr="/tmp/hero_b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>
              <a:alpha val="75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PARABÉNS!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548640" y="25603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acabou de sair do HTML puro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publicou uma página estilizada e responsiva.</a:t>
            </a:r>
            <a:endParaRPr lang="en-US" sz="3800" dirty="0"/>
          </a:p>
        </p:txBody>
      </p:sp>
      <p:sp>
        <p:nvSpPr>
          <p:cNvPr id="45" name="Text 42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 A · Biologia — Corpo Humano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explorando — CSS é a arte de fazer o pixel se mover.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Apostila CSS — Turma A — Biologia — Corpo Humano</dc:title>
  <dc:subject>PptxGenJS Presentation</dc:subject>
  <dc:creator>Aula de CSS</dc:creator>
  <cp:lastModifiedBy>Aula de CSS</cp:lastModifiedBy>
  <cp:revision>1</cp:revision>
  <dcterms:created xsi:type="dcterms:W3CDTF">2026-07-20T14:33:42Z</dcterms:created>
  <dcterms:modified xsi:type="dcterms:W3CDTF">2026-07-20T14:33:42Z</dcterms:modified>
</cp:coreProperties>
</file>